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Microsoft ライセンス拡大とISD支援機会</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2026年9月16日｜52アカウントの資料統合｜顧客内部情報を含む／取扱注意</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1</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目的：実際のMicrosoft 365 Copilot利用定着を起点に、有償ライセンスの継続・拡大機会を見極める。</a:t>
            </a:r>
          </a:p>
          <a:p>
            <a:pPr>
              <a:spcAft>
                <a:spcPts val="1000"/>
              </a:spcAft>
              <a:defRPr sz="1600">
                <a:solidFill>
                  <a:srgbClr val="17365D"/>
                </a:solidFill>
                <a:latin typeface="Noto Sans CJK JP"/>
              </a:defRPr>
            </a:pPr>
            <a:r>
              <a:t>• 資料根拠と推薦を区別し、規模・無償枠・課題の大きさだけで優先順位を上げない。</a:t>
            </a:r>
          </a:p>
          <a:p>
            <a:pPr>
              <a:spcAft>
                <a:spcPts val="1000"/>
              </a:spcAft>
              <a:defRPr sz="1600">
                <a:solidFill>
                  <a:srgbClr val="17365D"/>
                </a:solidFill>
                <a:latin typeface="Noto Sans CJK JP"/>
              </a:defRPr>
            </a:pPr>
            <a:r>
              <a:t>• 対象資料：docs/00_INDEX.md および全52アカウント文書。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エグゼクティブ提言</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営業優先、ISD適合、条件付き商材を分離</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2</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営業優先：TMC、TTDC、ジェイテクトJP、トヨタファイナンス、トヨタ自動車東日本。まず購入意向・数量・決裁を検証する。</a:t>
            </a:r>
          </a:p>
          <a:p>
            <a:pPr>
              <a:spcAft>
                <a:spcPts val="1000"/>
              </a:spcAft>
              <a:defRPr sz="1600">
                <a:solidFill>
                  <a:srgbClr val="17365D"/>
                </a:solidFill>
                <a:latin typeface="Noto Sans CJK JP"/>
              </a:defRPr>
            </a:pPr>
            <a:r>
              <a:t>• ISDの具体的な入口：TTDC（展開/研修）、Subaru（安全な配布設計）、金融/東日本（試行・効果測定）、TMC（需要/定着）。</a:t>
            </a:r>
          </a:p>
          <a:p>
            <a:pPr>
              <a:spcAft>
                <a:spcPts val="1000"/>
              </a:spcAft>
              <a:defRPr sz="1600">
                <a:solidFill>
                  <a:srgbClr val="17365D"/>
                </a:solidFill>
                <a:latin typeface="Noto Sans CJK JP"/>
              </a:defRPr>
            </a:pPr>
            <a:r>
              <a:t>• 条件付き：Subaru、AISIN、Toyota Shatai、TTC。E7/Agent等は価格、対象限定、既存権利、必要性を確認後に判断。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評価方法と商用ゲート</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資料記載（事実/顧客見解/TTS・MS見解）と推薦を分離</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3</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販売優先度＝明示された購入/拡大意向、時期、商用ゲート、根拠の新しさで定性評価。ISD課題の大きさや配布枠だけでは上げない。</a:t>
            </a:r>
          </a:p>
          <a:p>
            <a:pPr>
              <a:spcAft>
                <a:spcPts val="1000"/>
              </a:spcAft>
              <a:defRPr sz="1600">
                <a:solidFill>
                  <a:srgbClr val="17365D"/>
                </a:solidFill>
                <a:latin typeface="Noto Sans CJK JP"/>
              </a:defRPr>
            </a:pPr>
            <a:r>
              <a:t>• ISD開始前に、購入決裁者・予算時期・対象コホート・既存支援/権利・成功基準を確認する。</a:t>
            </a:r>
          </a:p>
          <a:p>
            <a:pPr>
              <a:spcAft>
                <a:spcPts val="1000"/>
              </a:spcAft>
              <a:defRPr sz="1600">
                <a:solidFill>
                  <a:srgbClr val="17365D"/>
                </a:solidFill>
                <a:latin typeface="Noto Sans CJK JP"/>
              </a:defRPr>
            </a:pPr>
            <a:r>
              <a:t>• 信頼度：高=直近かつ具体、 中=具体だが未確定/競合、低=関心のみ又は詳細不足。</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利用・ライセンス・収益を混同しない</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台帳ヘッダーは活動実績・追加受注ではない</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4</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有償/無償/合計は資料ヘッダー値。割当、活動、継続、有償転換、新規増分を別の指標として扱う。</a:t>
            </a:r>
          </a:p>
          <a:p>
            <a:pPr>
              <a:spcAft>
                <a:spcPts val="1000"/>
              </a:spcAft>
              <a:defRPr sz="1600">
                <a:solidFill>
                  <a:srgbClr val="17365D"/>
                </a:solidFill>
                <a:latin typeface="Noto Sans CJK JP"/>
              </a:defRPr>
            </a:pPr>
            <a:r>
              <a:t>• グループ/本社の重複、総ユーザー0/欠損、Vanderlandeの合計超過等があるため、横断浸透率・売上合計は算出しない。</a:t>
            </a:r>
          </a:p>
          <a:p>
            <a:pPr>
              <a:spcAft>
                <a:spcPts val="1000"/>
              </a:spcAft>
              <a:defRPr sz="1600">
                <a:solidFill>
                  <a:srgbClr val="17365D"/>
                </a:solidFill>
                <a:latin typeface="Noto Sans CJK JP"/>
              </a:defRPr>
            </a:pPr>
            <a:r>
              <a:t>• E7切替は置換分を差し引く。実価格、包装、権利をこの資料の外部検証済み事実として記載しない。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ポートフォリオ：定性マップ</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横軸=商用準備度、縦軸=ISDで解ける導入障害。金額・確率ではない</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5</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右上：TTDC、Subaru、トヨタファイナンス、東日本、TMC（ただし需要/数量を再照合）。</a:t>
            </a:r>
          </a:p>
          <a:p>
            <a:pPr>
              <a:spcAft>
                <a:spcPts val="1000"/>
              </a:spcAft>
              <a:defRPr sz="1600">
                <a:solidFill>
                  <a:srgbClr val="17365D"/>
                </a:solidFill>
                <a:latin typeface="Noto Sans CJK JP"/>
              </a:defRPr>
            </a:pPr>
            <a:r>
              <a:t>• 右下/条件付き：AISIN、Toyota Shatai、TTC、Toyota Boshoku、TMHE、CFAO。</a:t>
            </a:r>
          </a:p>
          <a:p>
            <a:pPr>
              <a:spcAft>
                <a:spcPts val="1000"/>
              </a:spcAft>
              <a:defRPr sz="1600">
                <a:solidFill>
                  <a:srgbClr val="17365D"/>
                </a:solidFill>
                <a:latin typeface="Noto Sans CJK JP"/>
              </a:defRPr>
            </a:pPr>
            <a:r>
              <a:t>• 左側（商用ゲート先行）：DENSO、Mazda、TME、Vanderlande、TMCA。支援ニーズは購買意思の証明ではない。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優先アカウント：Copilot拡大</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購入意向と導入阻害が両方確認できる順に検証</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6</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TMC：待機・追加購入の記述はあるが、TTSとMSで人数/基準が異なる。重複計上せず、需要台帳を確定する。</a:t>
            </a:r>
          </a:p>
          <a:p>
            <a:pPr>
              <a:spcAft>
                <a:spcPts val="1000"/>
              </a:spcAft>
              <a:defRPr sz="1600">
                <a:solidFill>
                  <a:srgbClr val="17365D"/>
                </a:solidFill>
                <a:latin typeface="Noto Sans CJK JP"/>
              </a:defRPr>
            </a:pPr>
            <a:r>
              <a:t>• TTDC：全社展開/希望者購入の記載。利用可能化を全員購入と解釈せず、対象部門別の継続利用を確認。</a:t>
            </a:r>
          </a:p>
          <a:p>
            <a:pPr>
              <a:spcAft>
                <a:spcPts val="1000"/>
              </a:spcAft>
              <a:defRPr sz="1600">
                <a:solidFill>
                  <a:srgbClr val="17365D"/>
                </a:solidFill>
                <a:latin typeface="Noto Sans CJK JP"/>
              </a:defRPr>
            </a:pPr>
            <a:r>
              <a:t>• ジェイテクトJP：部門別希望と次年度購入への前向きさを、評価設計と購買ゲートに結び付ける。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優先アカウント：導入定着を購入判断へ</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ISDは一般セミナーではなく、明確な障害除去に限定</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7</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トヨタファイナンス：配布と研修調整はあるが、予算/有償継続は未確認。研修後の反復利用と決裁を出口にする。</a:t>
            </a:r>
          </a:p>
          <a:p>
            <a:pPr>
              <a:spcAft>
                <a:spcPts val="1000"/>
              </a:spcAft>
              <a:defRPr sz="1600">
                <a:solidFill>
                  <a:srgbClr val="17365D"/>
                </a:solidFill>
                <a:latin typeface="Noto Sans CJK JP"/>
              </a:defRPr>
            </a:pPr>
            <a:r>
              <a:t>• トヨタ自動車東日本：必要量、試行、効果測定の記述をTTS/MS間で照合。DLP/ガードレールを先に整える。</a:t>
            </a:r>
          </a:p>
          <a:p>
            <a:pPr>
              <a:spcAft>
                <a:spcPts val="1000"/>
              </a:spcAft>
              <a:defRPr sz="1600">
                <a:solidFill>
                  <a:srgbClr val="17365D"/>
                </a:solidFill>
                <a:latin typeface="Noto Sans CJK JP"/>
              </a:defRPr>
            </a:pPr>
            <a:r>
              <a:t>• Subaru：E3+Copilotの拡大関心。限定グループへのE7を含む選択肢を、価格とアクセス権課題の解消後に検討。</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ISD介入チェーン｜TTDC</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提案：支援の出口を「購入または継続の判断」に定義</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8</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入口：対象者公募、説明会、部門別ユースケース、反復利用の可視化、継続購入の決裁</a:t>
            </a:r>
          </a:p>
          <a:p>
            <a:pPr>
              <a:spcAft>
                <a:spcPts val="1000"/>
              </a:spcAft>
              <a:defRPr sz="1600">
                <a:solidFill>
                  <a:srgbClr val="17365D"/>
                </a:solidFill>
                <a:latin typeface="Noto Sans CJK JP"/>
              </a:defRPr>
            </a:pPr>
            <a:r>
              <a:t>• 役割分担：営業=商用条件/決裁、顧客IT=対象・統制、ISD=設計/定着/測定。</a:t>
            </a:r>
          </a:p>
          <a:p>
            <a:pPr>
              <a:spcAft>
                <a:spcPts val="1000"/>
              </a:spcAft>
              <a:defRPr sz="1600">
                <a:solidFill>
                  <a:srgbClr val="17365D"/>
                </a:solidFill>
                <a:latin typeface="Noto Sans CJK JP"/>
              </a:defRPr>
            </a:pPr>
            <a:r>
              <a:t>• 出口：活動/反復利用の定義、試行完了、根拠に基づく継続・追加・見送り判断。時間短縮を自動的な現金効果とみなさない。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ISD介入チェーン｜Subaru</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提案：支援の出口を「購入または継続の判断」に定義</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9</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入口：データ/権限/割当の安全設計、限定導入、利用証跡、対象拡大判断</a:t>
            </a:r>
          </a:p>
          <a:p>
            <a:pPr>
              <a:spcAft>
                <a:spcPts val="1000"/>
              </a:spcAft>
              <a:defRPr sz="1600">
                <a:solidFill>
                  <a:srgbClr val="17365D"/>
                </a:solidFill>
                <a:latin typeface="Noto Sans CJK JP"/>
              </a:defRPr>
            </a:pPr>
            <a:r>
              <a:t>• 役割分担：営業=商用条件/決裁、顧客IT=対象・統制、ISD=設計/定着/測定。</a:t>
            </a:r>
          </a:p>
          <a:p>
            <a:pPr>
              <a:spcAft>
                <a:spcPts val="1000"/>
              </a:spcAft>
              <a:defRPr sz="1600">
                <a:solidFill>
                  <a:srgbClr val="17365D"/>
                </a:solidFill>
                <a:latin typeface="Noto Sans CJK JP"/>
              </a:defRPr>
            </a:pPr>
            <a:r>
              <a:t>• 出口：活動/反復利用の定義、試行完了、根拠に基づく継続・追加・見送り判断。時間短縮を自動的な現金効果とみなさない。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ISD介入チェーン｜トヨタファイナンス</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提案：支援の出口を「購入または継続の判断」に定義</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10</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入口：金融業務コホート、研修、日常業務での利用確認、有償継続の決裁</a:t>
            </a:r>
          </a:p>
          <a:p>
            <a:pPr>
              <a:spcAft>
                <a:spcPts val="1000"/>
              </a:spcAft>
              <a:defRPr sz="1600">
                <a:solidFill>
                  <a:srgbClr val="17365D"/>
                </a:solidFill>
                <a:latin typeface="Noto Sans CJK JP"/>
              </a:defRPr>
            </a:pPr>
            <a:r>
              <a:t>• 役割分担：営業=商用条件/決裁、顧客IT=対象・統制、ISD=設計/定着/測定。</a:t>
            </a:r>
          </a:p>
          <a:p>
            <a:pPr>
              <a:spcAft>
                <a:spcPts val="1000"/>
              </a:spcAft>
              <a:defRPr sz="1600">
                <a:solidFill>
                  <a:srgbClr val="17365D"/>
                </a:solidFill>
                <a:latin typeface="Noto Sans CJK JP"/>
              </a:defRPr>
            </a:pPr>
            <a:r>
              <a:t>• 出口：活動/反復利用の定義、試行完了、根拠に基づく継続・追加・見送り判断。時間短縮を自動的な現金効果とみなさない。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ISD介入チェーン｜トヨタ自動車東日本</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提案：支援の出口を「購入または継続の判断」に定義</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11</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入口：DLP/ガバナンス、短期試行、効果測定、必要数量の承認</a:t>
            </a:r>
          </a:p>
          <a:p>
            <a:pPr>
              <a:spcAft>
                <a:spcPts val="1000"/>
              </a:spcAft>
              <a:defRPr sz="1600">
                <a:solidFill>
                  <a:srgbClr val="17365D"/>
                </a:solidFill>
                <a:latin typeface="Noto Sans CJK JP"/>
              </a:defRPr>
            </a:pPr>
            <a:r>
              <a:t>• 役割分担：営業=商用条件/決裁、顧客IT=対象・統制、ISD=設計/定着/測定。</a:t>
            </a:r>
          </a:p>
          <a:p>
            <a:pPr>
              <a:spcAft>
                <a:spcPts val="1000"/>
              </a:spcAft>
              <a:defRPr sz="1600">
                <a:solidFill>
                  <a:srgbClr val="17365D"/>
                </a:solidFill>
                <a:latin typeface="Noto Sans CJK JP"/>
              </a:defRPr>
            </a:pPr>
            <a:r>
              <a:t>• 出口：活動/反復利用の定義、試行完了、根拠に基づく継続・追加・見送り判断。時間短縮を自動的な現金効果とみなさない。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ISD介入チェーン｜ジェイテクトJP</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提案：支援の出口を「購入または継続の判断」に定義</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12</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入口：部門公募、評価指標、次年度予算に向けた根拠づくり</a:t>
            </a:r>
          </a:p>
          <a:p>
            <a:pPr>
              <a:spcAft>
                <a:spcPts val="1000"/>
              </a:spcAft>
              <a:defRPr sz="1600">
                <a:solidFill>
                  <a:srgbClr val="17365D"/>
                </a:solidFill>
                <a:latin typeface="Noto Sans CJK JP"/>
              </a:defRPr>
            </a:pPr>
            <a:r>
              <a:t>• 役割分担：営業=商用条件/決裁、顧客IT=対象・統制、ISD=設計/定着/測定。</a:t>
            </a:r>
          </a:p>
          <a:p>
            <a:pPr>
              <a:spcAft>
                <a:spcPts val="1000"/>
              </a:spcAft>
              <a:defRPr sz="1600">
                <a:solidFill>
                  <a:srgbClr val="17365D"/>
                </a:solidFill>
                <a:latin typeface="Noto Sans CJK JP"/>
              </a:defRPr>
            </a:pPr>
            <a:r>
              <a:t>• 出口：活動/反復利用の定義、試行完了、根拠に基づく継続・追加・見送り判断。時間短縮を自動的な現金効果とみなさない。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ISD介入チェーン｜TMC</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提案：支援の出口を「購入または継続の判断」に定義</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13</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入口：待機者・購入済・無償を照合、部門別オンボーディング、追加需要の確認</a:t>
            </a:r>
          </a:p>
          <a:p>
            <a:pPr>
              <a:spcAft>
                <a:spcPts val="1000"/>
              </a:spcAft>
              <a:defRPr sz="1600">
                <a:solidFill>
                  <a:srgbClr val="17365D"/>
                </a:solidFill>
                <a:latin typeface="Noto Sans CJK JP"/>
              </a:defRPr>
            </a:pPr>
            <a:r>
              <a:t>• 役割分担：営業=商用条件/決裁、顧客IT=対象・統制、ISD=設計/定着/測定。</a:t>
            </a:r>
          </a:p>
          <a:p>
            <a:pPr>
              <a:spcAft>
                <a:spcPts val="1000"/>
              </a:spcAft>
              <a:defRPr sz="1600">
                <a:solidFill>
                  <a:srgbClr val="17365D"/>
                </a:solidFill>
                <a:latin typeface="Noto Sans CJK JP"/>
              </a:defRPr>
            </a:pPr>
            <a:r>
              <a:t>• 出口：活動/反復利用の定義、試行完了、根拠に基づく継続・追加・見送り判断。時間短縮を自動的な現金効果とみなさない。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条件付き：E7・Agent365・E5・Studio</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製品名は資料内の顧客仮説/用語。権利・価格・包装は営業確認</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14</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Toyota Boshoku：約10,000 E7は条件付き言及で、5,000–6,000はエージェント数。人/活動ユーザー/購入確約ではない。</a:t>
            </a:r>
          </a:p>
          <a:p>
            <a:pPr>
              <a:spcAft>
                <a:spcPts val="1000"/>
              </a:spcAft>
              <a:defRPr sz="1600">
                <a:solidFill>
                  <a:srgbClr val="17365D"/>
                </a:solidFill>
                <a:latin typeface="Noto Sans CJK JP"/>
              </a:defRPr>
            </a:pPr>
            <a:r>
              <a:t>• Mazda：Copilot Chatで十分との見解があり、Agent開発/消費の条件付きルート。R&amp;D 5,000の配布停止/開始記述は確認する。</a:t>
            </a:r>
          </a:p>
          <a:p>
            <a:pPr>
              <a:spcAft>
                <a:spcPts val="1000"/>
              </a:spcAft>
              <a:defRPr sz="1600">
                <a:solidFill>
                  <a:srgbClr val="17365D"/>
                </a:solidFill>
                <a:latin typeface="Noto Sans CJK JP"/>
              </a:defRPr>
            </a:pPr>
            <a:r>
              <a:t>• Vanderlande：E5移行関心が先行。既存E5権利で満たせる統制要件は追加販売と直結させない。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国際機会と既存パートナー</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規模ではなく商用準備度と支援の差分で選別</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15</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TMHE：好意的PoC/約300展開の記載。9,000無償配布は注文ではなく、組織変革を限定支援する。</a:t>
            </a:r>
          </a:p>
          <a:p>
            <a:pPr>
              <a:spcAft>
                <a:spcPts val="1000"/>
              </a:spcAft>
              <a:defRPr sz="1600">
                <a:solidFill>
                  <a:srgbClr val="17365D"/>
                </a:solidFill>
                <a:latin typeface="Noto Sans CJK JP"/>
              </a:defRPr>
            </a:pPr>
            <a:r>
              <a:t>• CFAO：成長関心と外部コンサル利用。予算・全社計画を確認し、既存パートナーと重ならない定着支援のみ提案。</a:t>
            </a:r>
          </a:p>
          <a:p>
            <a:pPr>
              <a:spcAft>
                <a:spcPts val="1000"/>
              </a:spcAft>
              <a:defRPr sz="1600">
                <a:solidFill>
                  <a:srgbClr val="17365D"/>
                </a:solidFill>
                <a:latin typeface="Noto Sans CJK JP"/>
              </a:defRPr>
            </a:pPr>
            <a:r>
              <a:t>• Bastian：拡大意向の詳細が限定的。ISD投資前に決裁者、課題、予算、対象を適格化する。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優先度を下げる/保留するケース</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長期機会を否定せず、直近の拡大案件とは区別</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16</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DENSO：改善された割引/契約条件が前提で、Copilot採用ありきではない。ROI支援要望は予算・購入意向の証明ではない。</a:t>
            </a:r>
          </a:p>
          <a:p>
            <a:pPr>
              <a:spcAft>
                <a:spcPts val="1000"/>
              </a:spcAft>
              <a:defRPr sz="1600">
                <a:solidFill>
                  <a:srgbClr val="17365D"/>
                </a:solidFill>
                <a:latin typeface="Noto Sans CJK JP"/>
              </a:defRPr>
            </a:pPr>
            <a:r>
              <a:t>• Mazda：広範なM365 Copilot座席の前提を置かず、Agent条件を確認。</a:t>
            </a:r>
          </a:p>
          <a:p>
            <a:pPr>
              <a:spcAft>
                <a:spcPts val="1000"/>
              </a:spcAft>
              <a:defRPr sz="1600">
                <a:solidFill>
                  <a:srgbClr val="17365D"/>
                </a:solidFill>
                <a:latin typeface="Noto Sans CJK JP"/>
              </a:defRPr>
            </a:pPr>
            <a:r>
              <a:t>• 愛三：9月は現行環境優先。Kayaba：ROI停滞、TME：投資保留/利用低下。購入意思を再確認する。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提案する30/60/90日アクション</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相対的な提案であり、確定した顧客プロジェクト日程ではない</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17</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30日：各優先アカウントで決裁者・予算・対象・既存権利・成功基準を記録し、TMC/Toyota Eastの数値を照合。</a:t>
            </a:r>
          </a:p>
          <a:p>
            <a:pPr>
              <a:spcAft>
                <a:spcPts val="1000"/>
              </a:spcAft>
              <a:defRPr sz="1600">
                <a:solidFill>
                  <a:srgbClr val="17365D"/>
                </a:solidFill>
                <a:latin typeface="Noto Sans CJK JP"/>
              </a:defRPr>
            </a:pPr>
            <a:r>
              <a:t>• 60日：安全な対象コホートでオンボーディング/ユースケース/測定を実施（営業、顧客IT、ISDの役割分担）。</a:t>
            </a:r>
          </a:p>
          <a:p>
            <a:pPr>
              <a:spcAft>
                <a:spcPts val="1000"/>
              </a:spcAft>
              <a:defRPr sz="1600">
                <a:solidFill>
                  <a:srgbClr val="17365D"/>
                </a:solidFill>
                <a:latin typeface="Noto Sans CJK JP"/>
              </a:defRPr>
            </a:pPr>
            <a:r>
              <a:t>• 90日：継続利用と業務結果をレビューし、追加購入・更新・限定Upsell・見送りを根拠付きで判定。</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KPIとGo/No-Go</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数値目標は資料にないため、定義を合意して追跡する</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18</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割当ユーザー、活動ユーザー、反復利用ユーザー（定義を合意）、試行完了、業務結果の証拠、有償継続承認。</a:t>
            </a:r>
          </a:p>
          <a:p>
            <a:pPr>
              <a:spcAft>
                <a:spcPts val="1000"/>
              </a:spcAft>
              <a:defRPr sz="1600">
                <a:solidFill>
                  <a:srgbClr val="17365D"/>
                </a:solidFill>
                <a:latin typeface="Noto Sans CJK JP"/>
              </a:defRPr>
            </a:pPr>
            <a:r>
              <a:t>• 商用：増分有償席数、置換契約額と純増、決裁日。架空の金額/勝率/ROIは置かない。</a:t>
            </a:r>
          </a:p>
          <a:p>
            <a:pPr>
              <a:spcAft>
                <a:spcPts val="1000"/>
              </a:spcAft>
              <a:defRPr sz="1600">
                <a:solidFill>
                  <a:srgbClr val="17365D"/>
                </a:solidFill>
                <a:latin typeface="Noto Sans CJK JP"/>
              </a:defRPr>
            </a:pPr>
            <a:r>
              <a:t>• Go：対象/安全性/成功基準/スポンサーが揃う。No-Go/保留：価格・契約・必要性・予算のゲート未解決。</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オープンクエスチョンとデータ照合</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次回アカウントオーナー会話で確定する項目</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19</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TMC：TTS約1,500とMS待機1万、購入済/追加1万と既存カウントの関係。</a:t>
            </a:r>
          </a:p>
          <a:p>
            <a:pPr>
              <a:spcAft>
                <a:spcPts val="1000"/>
              </a:spcAft>
              <a:defRPr sz="1600">
                <a:solidFill>
                  <a:srgbClr val="17365D"/>
                </a:solidFill>
                <a:latin typeface="Noto Sans CJK JP"/>
              </a:defRPr>
            </a:pPr>
            <a:r>
              <a:t>• Mazda：R&amp;D 5,000の停止/承認・開始状況。Toyota Boshoku：Agent数と人/活動/契約数の区別。</a:t>
            </a:r>
          </a:p>
          <a:p>
            <a:pPr>
              <a:spcAft>
                <a:spcPts val="1000"/>
              </a:spcAft>
              <a:defRPr sz="1600">
                <a:solidFill>
                  <a:srgbClr val="17365D"/>
                </a:solidFill>
                <a:latin typeface="Noto Sans CJK JP"/>
              </a:defRPr>
            </a:pPr>
            <a:r>
              <a:t>• 全件共通：台帳値の時点・割当・活動・有償転換、グループ重複、購入決裁/予算/既存権利。期限前の予定は実施済みと扱わない。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営業優先の運用ルール</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案件化前に「売れる見込み」と「支援が必要」を分離</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20</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営業：顧客の購入意思、対象人数、予算・決裁日、商用条件を文書化する。</a:t>
            </a:r>
          </a:p>
          <a:p>
            <a:pPr>
              <a:spcAft>
                <a:spcPts val="1000"/>
              </a:spcAft>
              <a:defRPr sz="1600">
                <a:solidFill>
                  <a:srgbClr val="17365D"/>
                </a:solidFill>
                <a:latin typeface="Noto Sans CJK JP"/>
              </a:defRPr>
            </a:pPr>
            <a:r>
              <a:t>• ISD：障害が導入設計・安全性・活用定着・測定である場合に、限定スコープで支援する。</a:t>
            </a:r>
          </a:p>
          <a:p>
            <a:pPr>
              <a:spcAft>
                <a:spcPts val="1000"/>
              </a:spcAft>
              <a:defRPr sz="1600">
                <a:solidFill>
                  <a:srgbClr val="17365D"/>
                </a:solidFill>
                <a:latin typeface="Noto Sans CJK JP"/>
              </a:defRPr>
            </a:pPr>
            <a:r>
              <a:t>• 共通：価格交渉のみ、必要性なし、既存支援との重複、活動根拠なしの場合は支援を案件化しない。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データ品質と競合する記述の扱い</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結論を強めず、資料内の最新日付・原文・不確実性を表示</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21</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9月フィードバックを優先する。ただし7月見出し内に9月の日付がある場合は実際の日付を確認する。</a:t>
            </a:r>
          </a:p>
          <a:p>
            <a:pPr>
              <a:spcAft>
                <a:spcPts val="1000"/>
              </a:spcAft>
              <a:defRPr sz="1600">
                <a:solidFill>
                  <a:srgbClr val="17365D"/>
                </a:solidFill>
                <a:latin typeface="Noto Sans CJK JP"/>
              </a:defRPr>
            </a:pPr>
            <a:r>
              <a:t>• 予定された会議/トライアルは、完了を明示する記述がない限り実施済みとはしない。</a:t>
            </a:r>
          </a:p>
          <a:p>
            <a:pPr>
              <a:spcAft>
                <a:spcPts val="1000"/>
              </a:spcAft>
              <a:defRPr sz="1600">
                <a:solidFill>
                  <a:srgbClr val="17365D"/>
                </a:solidFill>
                <a:latin typeface="Noto Sans CJK JP"/>
              </a:defRPr>
            </a:pPr>
            <a:r>
              <a:t>• 欠損「-」、総数0、矛盾した合計、切れた記述はそのまま制限事項として残す。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商材別の適用ガードレール</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顧客の用語・仮説を、確定した製品提案へ読み替えない</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22</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M365 Copilot：日常業務の反復利用・実務成果・有償継続の根拠を優先。</a:t>
            </a:r>
          </a:p>
          <a:p>
            <a:pPr>
              <a:spcAft>
                <a:spcPts val="1000"/>
              </a:spcAft>
              <a:defRPr sz="1600">
                <a:solidFill>
                  <a:srgbClr val="17365D"/>
                </a:solidFill>
                <a:latin typeface="Noto Sans CJK JP"/>
              </a:defRPr>
            </a:pPr>
            <a:r>
              <a:t>• Agent365/Copilot Studio：業務エージェントの必要性、統制、利用量/成果、商用条件を確認。</a:t>
            </a:r>
          </a:p>
          <a:p>
            <a:pPr>
              <a:spcAft>
                <a:spcPts val="1000"/>
              </a:spcAft>
              <a:defRPr sz="1600">
                <a:solidFill>
                  <a:srgbClr val="17365D"/>
                </a:solidFill>
                <a:latin typeface="Noto Sans CJK JP"/>
              </a:defRPr>
            </a:pPr>
            <a:r>
              <a:t>• E5/E7：セキュリティ/統制要件と既存権利を確認し、切替の置換分を考慮して純増を評価。</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付録の読み方と出典管理</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全52アカウントを1枚ずつ掲載。詳細な追跡はCSV/manifestで行う</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分析・推薦（資料記載と区別）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23</a:t>
            </a:r>
          </a:p>
        </p:txBody>
      </p:sp>
      <p:sp>
        <p:nvSpPr>
          <p:cNvPr id="6" name="Rounded Rectangle 5"/>
          <p:cNvSpPr/>
          <p:nvPr/>
        </p:nvSpPr>
        <p:spPr>
          <a:xfrm>
            <a:off x="502920" y="1325880"/>
            <a:ext cx="11064240" cy="4892040"/>
          </a:xfrm>
          <a:prstGeom prst="round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wrap="square"/>
          <a:lstStyle/>
          <a:p>
            <a:pPr algn="l">
              <a:spcAft>
                <a:spcPts val="1000"/>
              </a:spcAft>
              <a:defRPr sz="1600" b="0">
                <a:solidFill>
                  <a:srgbClr val="17365D"/>
                </a:solidFill>
                <a:latin typeface="Noto Sans CJK JP"/>
              </a:defRPr>
            </a:pPr>
            <a:r>
              <a:t>• 各カードは資料内日付、台帳ヘッダー、短い原文抜粋、障壁、推薦、次の確認を表示する。</a:t>
            </a:r>
          </a:p>
          <a:p>
            <a:pPr>
              <a:spcAft>
                <a:spcPts val="1000"/>
              </a:spcAft>
              <a:defRPr sz="1600">
                <a:solidFill>
                  <a:srgbClr val="17365D"/>
                </a:solidFill>
                <a:latin typeface="Noto Sans CJK JP"/>
              </a:defRPr>
            </a:pPr>
            <a:r>
              <a:t>• 原文のファイル・行範囲は各スライド下部に表示。全行・コミット・全件対応は account_evidence_matrix.csv と source_manifest.json に記録。</a:t>
            </a:r>
          </a:p>
          <a:p>
            <a:pPr>
              <a:spcAft>
                <a:spcPts val="1000"/>
              </a:spcAft>
              <a:defRPr sz="1600">
                <a:solidFill>
                  <a:srgbClr val="17365D"/>
                </a:solidFill>
                <a:latin typeface="Noto Sans CJK JP"/>
              </a:defRPr>
            </a:pPr>
            <a:r>
              <a:t>• 本資料はMicrosoft公式の推奨・価格表・商用コミットメントではない。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アカウント詳細｜トヨタ自動車 TMC</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営業優先  |  根拠信頼度: 高</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docs/01_トヨタ自動車 TMC.md:16–20（GitHub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24</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123000 / ME3: 123000 / ME5: -</a:t>
            </a:r>
            <a:br/>
            <a:r>
              <a:t>Copilot 有償/無償/合計: 30000 / 無償: 30000 / 合計: 60000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"・TMCはE3中心であり、次期GAでもE3主力の見込み。 ・Copilotは約30,000ライセンス展開中 ＜コスト面(現行価格）＞ 現状 E3: 2,310円/月 Copilot：3,831円/月 ⇒ 合計約6,000円 PowerBI Pro 5,000人（722円/月）</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購買済/追加/無償の基準が混在</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利用待ち・研修・需要確認</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需要台帳→部門導入→定着計測→追加数量の承認</a:t>
            </a:r>
            <a:br/>
            <a:r>
              <a:t>販売優先度は意思・障壁・根拠に基づく定性判断であり、売上額・確率・活動率を示すものではない。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アカウント詳細｜DENSO 本体</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2026/09  |  判断: 保留  |  根拠信頼度: 高</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docs/02_DENSO 本体.md:14–16（GitHub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25</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49750 / ME3: - / ME5: 49750</a:t>
            </a:r>
            <a:br/>
            <a:r>
              <a:t>Copilot 有償/無償/合計: 36023 / 無償: - / 合計: 36023</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【全体方針・前提条件】 現時点でMicrosoftが想定するE7およびCopilotの導入規模を受け入れられる状況にはなく、対象ユーザー・利用シナリオを精査した上で判断が必要。 AI活用の方向性は理解しているが、Copilot導入ありきの検討は難しい。他社ソリューションを含めて評価する必要があり、Copilot採用前提での数量コミットメントには慎重な姿勢。</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割引/契約条件の改善が前提、競合も評価</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改善後のROI・対象者整理</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条件改善→限定シナリオ→価値証拠→社内決裁可否</a:t>
            </a:r>
            <a:br/>
            <a:r>
              <a:t>販売優先度は意思・障壁・根拠に基づく定性判断であり、売上額・確率・活動率を示すものではない。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アカウント詳細｜AISIN 本体</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2026/09  |  判断: 条件付き  |  根拠信頼度: 高</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docs/03_AISIN 本体.md:14–19（GitHub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26</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34720 / ME3: 34720 / ME5: -</a:t>
            </a:r>
            <a:br/>
            <a:r>
              <a:t>Copilot 有償/無償/合計: 20318 / 無償: 5400 / 合計: 25718</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【前提条件】 E3を大幅に減らし、E5/E7へ移行する前提条件については現実的ではない。 各社にコミットメント達成のための「ノルマ」が課されるような形になることには懸念がある。グループ各社間の公平性も考慮が必要。 【E7】：構成比較 Agent365自体には魅力を感じるが、一方で、現時点で提示されている価格水準では、Agent365やE7を採用する判断は難しい</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一律E7化・価格・公平性</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グループ標準化</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申請/配布基準→共通研修→利用可視化→有償標準化判断</a:t>
            </a:r>
            <a:br/>
            <a:r>
              <a:t>販売優先度は意思・障壁・根拠に基づく定性判断であり、売上額・確率・活動率を示すものではない。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アカウント詳細｜マツダ Mazda</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2026/09  |  判断: 別製品優先  |  根拠信頼度: 高</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docs/04_マツダ Mazda.md:16–18（GitHub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27</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36085 / ME3: - / ME5: 36085</a:t>
            </a:r>
            <a:br/>
            <a:r>
              <a:t>Copilot 有償/無償/合計: 1200 / 無償: 24800 / 合計: 26000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【ライセンス戦略・AI活用方針】 ・E7の価格メリットは一定程度評価するものの、約20％のコスト削減だけでは直ちにE7へ移行する決定要因にはならない。 ・AI活用を推進する方針はあるが、Copilotライセンスの全社展開は現時点では想定していない。</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Chatで十分、R&amp;D配布停止/開始記述が競合</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Copilot Studio/Agentの価値検証</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Agent候補→利用量/成果→Studio/Agent365の採否</a:t>
            </a:r>
            <a:br/>
            <a:r>
              <a:t>販売優先度は意思・障壁・根拠に基づく定性判断であり、売上額・確率・活動率を示すものではない。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アカウント詳細｜スバル Subaru</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2026/09  |  判断: 条件付き  |  根拠信頼度: 高</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docs/05_スバル Subaru.md:15–17（GitHub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28</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33087 / ME3: 31587 / ME5: 1500</a:t>
            </a:r>
            <a:br/>
            <a:r>
              <a:t>Copilot 有償/無償/合計: 5000 / 無償: 13100 / 合計: 18100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【価格/前提条件】 E3→E5/E7シフト前提数量について、 非常に厳しいとの認識。2027年4月時点にE3を急激に減らす前提は、現実離れしている。 値上げ幅については率直に「厳しい」という反応。ボリュームディスカウント制度廃止自体は理解するものの、</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価格/急な全社E7化に懸念</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権限・データ・配布設計</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限定グループの安全設計→利用証跡→限定拡大判断</a:t>
            </a:r>
            <a:br/>
            <a:r>
              <a:t>販売優先度は意思・障壁・根拠に基づく定性判断であり、売上額・確率・活動率を示すものではない。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アカウント詳細｜豊田通商 TTC</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2026/09  |  判断: 条件付き  |  根拠信頼度: 中</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docs/06_豊田通商 TTC.md:15–19（GitHub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29</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22500 / ME3: 17300 / ME5: 5200</a:t>
            </a:r>
            <a:br/>
            <a:r>
              <a:t>Copilot 有償/無償/合計: 2142 / 無償: 2800 / 合計: 4942</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 現在、全社的にITコスト削減の方針がある、為替影響による一定のコスト増は理解しているものの今回提示された価格上昇幅は受容は非常に厳しい。 【本体：Agent365およびCopilot活用について】 TTC本体ではCopilot活用拡大を進めており、Agent365についてもトライアルを実施中。</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ITコスト・会社別予算・既存研修</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本体の成功事例化</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既存施策補完→活用証跡→関連会社別の採否判断</a:t>
            </a:r>
            <a:br/>
            <a:r>
              <a:t>販売優先度は意思・障壁・根拠に基づく定性判断であり、売上額・確率・活動率を示すものではない。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アカウント詳細｜トヨタ紡織 Toyota Boshoku 本体</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2026/09  |  判断: 条件付き  |  根拠信頼度: 高</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docs/07_トヨタ紡織 Toyota Boshoku 本体.md:12–14（GitHub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30</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9776 / ME3: - / ME5: 9776</a:t>
            </a:r>
            <a:br/>
            <a:r>
              <a:t>Copilot 有償/無償/合計: 2140 / 無償: 3900 / 合計: 6040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【価格・数量条件】 ・想定していた20～25％程度の値上げを大きく超える負担に強い懸念。 ・Microsoftが求めるコミット数量は非現実的との認識。まず数量条件と割引率の整理・改善を要望。経営判断では総コストを重視し、現行の利用を維持することが優先。</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価格・必要性・数量コミット</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Agent/Copilot価値・ガバナンス</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少数ユースケース→統制/効果→価格を含む継続判断</a:t>
            </a:r>
            <a:br/>
            <a:r>
              <a:t>販売優先度は意思・障壁・根拠に基づく定性判断であり、売上額・確率・活動率を示すものではない。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アカウント詳細｜トヨタ車体 Toyota Shatai</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2026/09  |  判断: 条件付き  |  根拠信頼度: 中</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docs/08_トヨタ車体 Toyota Shatai.md:15–17（GitHub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31</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10700 / ME3: 10700 / ME5: -</a:t>
            </a:r>
            <a:br/>
            <a:r>
              <a:t>Copilot 有償/無償/合計: 6370 / 無償: 500 / 合計: 6870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【前提条件】 MicrosoftがE7やCopilotの大規模展開を前提にしていることは理解できる一方で、製造業の現場実態とのギャップを大きく感じている。 「なぜMicrosoftがその規模を求めるのか」は理解できるようになってきたが、現場が追いついていない。</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数量確約とユースケースが未成熟</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段階導入と個別業務の具体化</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500想定の対象選定→業務実証→段階購入判定</a:t>
            </a:r>
            <a:br/>
            <a:r>
              <a:t>販売優先度は意思・障壁・根拠に基づく定性判断であり、売上額・確率・活動率を示すものではない。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アカウント詳細｜豊田自動織機 TICO</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2026/09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docs/09_豊田自動織機 TICO.md:13–15（GitHub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32</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18650 / ME3: 18650 / ME5: -</a:t>
            </a:r>
            <a:br/>
            <a:r>
              <a:t>Copilot 有償/無償/合計: 6400 / 無償: 4400 / 合計: 10800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 価格の上昇自体は想定していたが、全体最適の議論が不足しており、単純にE3/E5/E7単体の比較だけでは今後の判断ができない。 TICOとしてはオンプレミス製品やサーバー系ライセンスも含めたMicrosoft投資全体で、「最終的にいくらがいくらになるのか」を把握したい。</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アカウント詳細｜愛三工業</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2026/09  |  判断: 保留  |  根拠信頼度: 中</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docs/10_愛三工業.md:20–25（GitHub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33</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3486 / ME3: - / ME5: 3486</a:t>
            </a:r>
            <a:br/>
            <a:r>
              <a:t>Copilot 有償/無償/合計: 97 / 無償: 1600 / 合計: 1697</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 ボリュームディスカウント廃止や割引率低下（33%→20%）により、GAならではのメリットが弱く見えるとの指摘。 トヨタグループの規模を考えた際に、現在の一次提案が十分な優遇条件と言えるのか疑問との意見 【オンプレ特典】 E3/E5の価格上昇よりも、GAで提供されているオンプレミス関連特典が廃止される場合の影響を強く懸念している。</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旧来の拡大期待より現環境課題が優先</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現行環境の安定化</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環境課題整理→利用可能性再確認→必要時に評価</a:t>
            </a:r>
            <a:br/>
            <a:r>
              <a:t>販売優先度は意思・障壁・根拠に基づく定性判断であり、売上額・確率・活動率を示すものではない。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アカウント詳細｜トヨタコニックプロ</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条件付き  |  根拠信頼度: 中</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docs/11_トヨタコニックプロ.md:16–16（GitHub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34</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957 / ME3: - / ME5: 957</a:t>
            </a:r>
            <a:br/>
            <a:r>
              <a:t>Copilot 有償/無償/合計: 717 / 無償: - / 合計: 717</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関心度：非常に興味がある／時期：1年以内（2027年4月更新時を想定）。CopilotとAgent365に関心。価格上昇への社内理解を得るため、早期に製品理解と導入準備プロジェクトを開始したい意向。</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価格理解が前提</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更新時のCopilot/Agent評価</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更新要件→小規模評価→更新/追加の判断</a:t>
            </a:r>
            <a:br/>
            <a:r>
              <a:t>販売優先度は意思・障壁・根拠に基づく定性判断であり、売上額・確率・活動率を示すものではない。</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アカウント詳細｜ダイハツ</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2026/09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docs/12_ダイハツ.md:15–19（GitHub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35</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11100 / ME3: - / ME5: 11100</a:t>
            </a:r>
            <a:br/>
            <a:r>
              <a:t>Copilot 有償/無償/合計: 1989 / 無償: 5100 / 合計: 7089</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 次期GA価格については、為替や定価改定の影響は一定程度理解できる一方で、ボリュームディスカウント廃止や割引率低下については納得感のある説明・改善を期待している 【E7・Agent365】 現時点で導入を検討している段階ではなく、まずは既存ライセンスの活用とCopilotの利用状況を見極めたい。</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アカウント詳細｜ジェイテクト</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営業優先  |  根拠信頼度: 中</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docs/13_ジェイテクト.md:16–17（GitHub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36</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10804 / ME3: 10804 / ME5: -</a:t>
            </a:r>
            <a:br/>
            <a:r>
              <a:t>Copilot 有償/無償/合計: 600 / 無償: 4600 / 合計: 5200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関心度：情報収集中／時期：次期GA期間中。Copilot拡大に伴う関連製品・従量課金を含む運用と、Entra Suiteによる本人確認強化に関心。 MSからE3→E5→E7提案中。→アカウントに確認したところE5化提案には絡んでおらず？状況確認。</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購入時期・決裁・成功基準が未確認</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部門別公募と評価設計</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候補部門→ユースケース評価→継続根拠→次年度購入</a:t>
            </a:r>
            <a:br/>
            <a:r>
              <a:t>販売優先度は意思・障壁・根拠に基づく定性判断であり、売上額・確率・活動率を示すものではない。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アカウント詳細｜カヤバ</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docs/14_カヤバ.md:16–17（GitHub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37</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4263 / ME3: 4263 / ME5: -</a:t>
            </a:r>
            <a:br/>
            <a:r>
              <a:t>Copilot 有償/無償/合計: 206 / 無償: 1900 / 合計: 2106</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関心度：現時点では導入予定なし。コストが障壁だが、Copilotの利用拡大を検討。費用対効果の測定、DLP等のセキュリティ、社内展開方法が主要課題。 Copilotの利用拡大すら検討フェーズ。役員にKPI示せないと進めない。</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アカウント詳細｜トヨタコネクティッド</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docs/15_トヨタコネクティッド.md:16–16（GitHub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38</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2942 / ME3: - / ME5: 2942</a:t>
            </a:r>
            <a:br/>
            <a:r>
              <a:t>Copilot 有償/無償/合計: 283 / 無償: 1500 / 合計: 1783</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E7のざっくり説明希望。MSアポにTTS同席する形で調整中。</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アカウント詳細｜トヨタ自動車九州</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docs/16_トヨタ自動車九州.md:16–17（GitHub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39</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0 / ME3: - / ME5: -</a:t>
            </a:r>
            <a:br/>
            <a:r>
              <a:t>Copilot 有償/無償/合計: 1550 / 無償: 2100 / 合計: 3650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E3メインで利用。E7はCopilotやAgentが含まれるのは魅力だが、 E5に含まれるエンドポイントセキュリティ製品は別製品を導入しているため、 全体でみると割高となるため現時点では導入予定はなし。 →E7のざっくり説明希望。まずはTTSでざっくりヒアリングのためアカウント営業経由で打ち合わせ調整中。</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アカウント詳細｜株式会社東海理化</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docs/17_株式会社東海理化.md:16–18（GitHub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40</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6312 / ME3: 6312 / ME5: -</a:t>
            </a:r>
            <a:br/>
            <a:r>
              <a:t>Copilot 有償/無償/合計: 441 / 無償: 2600 / 合計: 3041</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関心度：わからない／時期：未回答。コスト、利用シナリオ不明、効果が見えないことが障壁。まずE7の機能・活用例・費用対効果の説明を希望。 ーーーーーーーーーーーーーーーーーーーーーーーーーーーーーーーーーーーーーーーーーーーーーーー Copilotは徐々に。エージェント活用には力を入れているため、A365ニーズある可能性あり。</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アカウント詳細｜プライムプラネットエナジー&amp;ソリューションズ株式会社</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docs/18_プライムプラネットエナジー&amp;ソリューションズ株式会社.md:16–18（GitHub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41</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6050 / ME3: 6050 / ME5: -</a:t>
            </a:r>
            <a:br/>
            <a:r>
              <a:t>Copilot 有償/無償/合計: 2523 / 無償: 1500 / 合計: 4023</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関心度：現時点では導入予定なし。主な障壁はコスト。一方でCopilot継続利用に必要な基盤側設定にはニーズあり。 Copilotを社内展開推進中で多忙であるもののＡ365ニーズある可能性あり。 ーーーーーーーーーーーーーーーーーーーーーーーーーーーーーーーーーーーーーーーーーーーーーーー</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アカウント詳細｜トヨタ自動車北海道株式会社</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docs/19_トヨタ自動車北海道株式会社.md:16–18（GitHub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42</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1670 / ME3: - / ME5: 1670</a:t>
            </a:r>
            <a:br/>
            <a:r>
              <a:t>Copilot 有償/無償/合計: 332 / 無償: - / 合計: 332</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関心度：興味がある／時期：未定。Agent365とEntra Suiteに関心。導入後の管理コスト増、セキュリティ対応範囲の拡大、社内リソース不足が課題。 Copilot利用希望があると、情シで都度予算確保。徐々に展開。 CopilotStudioの勉強会希望あり、エージェント活用推進しようとはしており、A365ニーズある可能性あり。</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アカウント詳細｜トヨタテクニカルディベロップメント株式会社</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営業優先  |  根拠信頼度: 高</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docs/20_トヨタテクニカルディベロップメント株式会社.md:16–18（GitHub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43</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1365 / ME3: - / ME5: 1365</a:t>
            </a:r>
            <a:br/>
            <a:r>
              <a:t>Copilot 有償/無償/合計: 562 / 無償: - / 合計: 562</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関心度：非常に興味がある／時期：未定。Copilotに関心。500名超の個別購入とE7の価格比較、および内部不正対策を含むPurview Suiteの機能理解を希望。 Copilot利活用推進にあたり環境整備に課題感あり。 ーーーーーーーーーーーーーーーーーーーーーーーーーーーーーーーーーーーーーーーーーーーーーーー</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全社利用可能=全員購入ではない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全社展開/希望者購入の運用化</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対象者公募→説明会→継続利用→部門別購入判断</a:t>
            </a:r>
            <a:br/>
            <a:r>
              <a:t>販売優先度は意思・障壁・根拠に基づく定性判断であり、売上額・確率・活動率を示すものではない。</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アカウント詳細｜トヨタ自動車東日本</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営業優先  |  根拠信頼度: 中</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docs/21_トヨタ自動車東日本.md:16–17（GitHub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44</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3909 / ME3: 3909 / ME5: -</a:t>
            </a:r>
            <a:br/>
            <a:r>
              <a:t>Copilot 有償/無償/合計: 1391 / 無償: 1800 / 合計: 3191</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関心度：情報収集中／時期：未定。Copilotに関心。生成AIのガードレールとDLP、他社生成AIを含むライセンス設計、Power BI等との生成AI連携を検討。 Copilotは徐々に展開。エージェント活用推進に力を入れているため、A365ニーズある可能性あり。</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TTS/MS記述と展開時点を要照合</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必要数量の試行・効果測定</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ガードレール→試行→効果確認→必要数量承認</a:t>
            </a:r>
            <a:br/>
            <a:r>
              <a:t>販売優先度は意思・障壁・根拠に基づく定性判断であり、売上額・確率・活動率を示すものではない。</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アカウント詳細｜トヨタ不動産</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docs/22_トヨタ不動産.md:16–16（GitHub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45</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0 / ME3: - / ME5: -</a:t>
            </a:r>
            <a:br/>
            <a:r>
              <a:t>Copilot 有償/無償/合計: 115 / 無償: - / 合計: 115</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関心度：非常に興味がある／時期：1年以内。CopilotとAgent365に関心。（具体的な自由記述はなく、製品説明と導入条件の具体化が次のステップ。）Copilotもまだまだこれから。やる気はある？</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アカウント詳細｜トヨタファイナンス</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営業優先  |  根拠信頼度: 中</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docs/23_トヨタファイナンス.md:16–19（GitHub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46</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3205 / ME3: 3205 / ME5: 0</a:t>
            </a:r>
            <a:br/>
            <a:r>
              <a:t>Copilot 有償/無償/合計: 41 / 無償: 1700 / 合計: 1741</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Agent365トライアルの問い合わせあり。 10月から検討開始、27年2月までに方針確定、3-4月で実装。 27年4月からはAgent365のライセンス最大10ライセンス購入。 トライアル版を使うとしても、1-3月の3か月間の予定。10月から検討開始するので少し待ってほしいとのこと。</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予算/有償継続は未確認</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配布後研修と金融業務の評価</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対象コホート→研修→反復利用→有償継続決裁</a:t>
            </a:r>
            <a:br/>
            <a:r>
              <a:t>販売優先度は意思・障壁・根拠に基づく定性判断であり、売上額・確率・活動率を示すものではない。</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アカウント詳細｜トヨタホーム</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docs/24_トヨタホーム.md:16–16（GitHub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47</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 / ME3: - / ME5: -</a:t>
            </a:r>
            <a:br/>
            <a:r>
              <a:t>Copilot 有償/無償/合計: - / 無償: - / 合計: -</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E5が26年度中に1200。28年くらいには5000になる見込</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アカウント詳細｜豊田中央研究所</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JP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docs/25_豊田中央研究所.md:16–16（GitHub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48</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 / ME3: - / ME5: -</a:t>
            </a:r>
            <a:br/>
            <a:r>
              <a:t>Copilot 有償/無償/合計: - / 無償: - / 合計: -</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STEP2、10/7にAgent365について説明、TTS同席。</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アカウント詳細｜TMNA</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2026/09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docs/26_TMNA.md:12–17（GitHub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49</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40475 / ME3: - / ME5: 40475</a:t>
            </a:r>
            <a:br/>
            <a:r>
              <a:t>Copilot 有償/無償/合計: 6109 / 無償: 17000 / 合計: 23109</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① MSからの全体条件について Microsoftが前提としている大規模E7導入の予定は未定 特にAgent365に関しては検証中であり、導入可否判断が現時点で出来ない ② 価格について 総じて今までのToyotaとのパートナーシップを考慮されていないように受け止められている</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アカウント詳細｜Aisin World America</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2026/09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docs/27_Aisin World America.md:12–13（GitHub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50</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4968 / ME3: 4001 / ME5: 967</a:t>
            </a:r>
            <a:br/>
            <a:r>
              <a:t>Copilot 有償/無償/合計: 143 / 無償: 2400 / 合計: 2543</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① MSからの全体条件について AWAは、現時点ではMicrosoftが求めるような大規模なE7導入を計画していない。現実的にはE5中心のロードマップを想定している。AI関連機能の価値は認識しているが、全社レベルでの導入判断にはまだ十分な検証が必要と考えている。</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アカウント詳細｜TMHNA(TINA)</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2026/09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docs/28_TMHNA(TINA).md:12–15（GitHub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51</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3725 / ME3: 4 / ME5: 3721</a:t>
            </a:r>
            <a:br/>
            <a:r>
              <a:t>Copilot 有償/無償/合計: 6 / 無償: 2000 / 合計: 2006</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① MSからの全体条件について 現状の準備状況では、大規模なE7導入を前提としたコミットメントは難しいとの認識。 過去にE5へのアップグレード投資を実施しており、その直後にさらにE7へ移行することへの抵抗感がある。 TMHNAと他のグループ会社は利用状況やAzure消費量が異なるため、別々に意見を集めるべきとの提案。</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アカウント詳細｜JTEKT</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2026/09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docs/29_JTEKT.md:12–15（GitHub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52</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3555 / ME3: 3550 / ME5: 5</a:t>
            </a:r>
            <a:br/>
            <a:r>
              <a:t>Copilot 有償/無償/合計: 185 / 無償: 1000 / 合計: 1185</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① MSからの全体条件について JTECは現在主にE3を利用しており、一部E5、F1/F3ライセンスを利用している。 全ユーザーをE7へ移行する考えはなく、まず利用実態分析が必要との認識。 E7を全社員へ一律適用するのではなく、E7が必要なユーザー、E5が必要なユーザー、E3で十分なユーザー、Frontlineライセンス対象者 を分類すべきという意見。製造業特有の事情もあり、クラウドへ全面移行する前提には慎重。</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アカウント詳細｜SUBARU US</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docs/30_SUBARU US.md:16–17（GitHub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53</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2942 / ME3: - / ME5: 2942</a:t>
            </a:r>
            <a:br/>
            <a:r>
              <a:t>Copilot 有償/無償/合計: 1000 / 無償: 0 / 合計: 1000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関心度：不明／時期：未定。 Level of Interest: Unknown / Timing: TBD.</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アカウント詳細｜TFS Americas</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docs/31_TFS.md:16–16（GitHub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54</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8750 / ME3: 0 / ME5: 8750</a:t>
            </a:r>
            <a:br/>
            <a:r>
              <a:t>Copilot 有償/無償/合計: 150 / 無償: 4700 / 合計: 4850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関心度：不明／時期：未定。Copilotは今後展開する方向。</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アカウント詳細｜TMMC</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docs/32_TMMC.md:16–18（GitHub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55</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4740 / ME3: 4740 / ME5: 0</a:t>
            </a:r>
            <a:br/>
            <a:r>
              <a:t>Copilot 有償/無償/合計: 58 / 無償: 2600 / 合計: 2658</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関心度：不明／時期：未定。Copilotに興味はあるが、TINAのポリシーによりCopilotを使えないとのこと。 Level of Interest: Unknown Timing: TBD. They are interested in Copilot but are currently unable to use it due to TINA’s policy.</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アカウント詳細｜SIA</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docs/33_SIA.md:16–17（GitHub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56</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1100 / ME3: 1100 / ME5: 0</a:t>
            </a:r>
            <a:br/>
            <a:r>
              <a:t>Copilot 有償/無償/合計: 150 / 無償: 0 / 合計: 150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関心度：不明／時期：未定。 Level of Interest: Unknown / Timing: TBD.</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アカウント詳細｜SCI</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docs/34_SCI.md:16–17（GitHub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57</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214 / ME3: 0 / ME5: 214</a:t>
            </a:r>
            <a:br/>
            <a:r>
              <a:t>Copilot 有償/無償/合計: 50 / 無償: 0 / 合計: 50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関心度：不明／時期：未定。 Level of Interest: Unknown / Timing: TBD.</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アカウント詳細｜Bastian</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docs/35_Bastian.md:16–18（GitHub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58</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1758 / ME3: 0 / ME5: 1758</a:t>
            </a:r>
            <a:br/>
            <a:r>
              <a:t>Copilot 有償/無償/合計: 152 / 無償: 800 / 合計: 952</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関心度：不明／時期：未定。Copilotについては今後も利用拡大を進めるとのこと。 Level of Interest: Unknown Timing: TBD. They plan to continue expanding the use of Copilot going forward.</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購入規模/課題/決裁が不足</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成長意向の適格性確認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決裁者・対象・予算確認→必要時のみ導入支援</a:t>
            </a:r>
            <a:br/>
            <a:r>
              <a:t>販売優先度は意思・障壁・根拠に基づく定性判断であり、売上額・確率・活動率を示すものではない。</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アカウント詳細｜TAI</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docs/36_TAI.md:16–17（GitHub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59</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2330 / ME3: 180 / ME5: 2150</a:t>
            </a:r>
            <a:br/>
            <a:r>
              <a:t>Copilot 有償/無償/合計: 0 / 無償: 1000 / 合計: 1000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興味がある。価格が知りたいとの問い合わせあり。／時期：未定。Copilotに関心。これまで自社AIのみの利用だったがM365内でのCopilot利用に価値を見出しており、現在無償ライセンスをつかってCopilot検証中。 Level of Interest: Interested. They have inquired about pricing.</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アカウント詳細｜TGNA</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docs/37_TGNA.md:16–18（GitHub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60</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4805 / ME3: 1375 / ME5: 3430</a:t>
            </a:r>
            <a:br/>
            <a:r>
              <a:t>Copilot 有償/無償/合計: 72 / 無償: 2600 / 合計: 2672</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関心度：興味がある／時期：未定。E7に間違いなく需要はあるとのコメント。Agent 365のルールなどをまずは把握したいとのこと。 Level of Interest: Interested Timing: TBD. They commented that there is definitely demand for E7. As a first step, they would like to better understand Agent 365, including its rules and policie</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アカウント詳細｜Toyota Colombia</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docs/38_Toyota Colombia.md:16–18（GitHub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61</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275 / ME3: 275 / ME5: 0</a:t>
            </a:r>
            <a:br/>
            <a:r>
              <a:t>Copilot 有償/無償/合計: 100 / 無償: 0 / 合計: 100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関心度：不明／時期：未定。DefenderとCopilotの割合から見てME5へのアップグレードの可能性が予想される Level of Interest: Unknown Timing: TBD. Based on the current adoption of Defender and Copilot, there is potential for an upgrade to ME5.</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アカウント詳細｜Carolina Handling</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docs/39_Carolina Handling.md:16–17（GitHub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62</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1100 / ME3: 0 / ME5: 1100</a:t>
            </a:r>
            <a:br/>
            <a:r>
              <a:t>Copilot 有償/無償/合計: 45 / 無償: 0 / 合計: 45</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関心度：興味がある。価格が知りたいとの問い合わせあり。／時期：未定。 Level of Interest: Interested. They have inquired about pricing. / Timing: TBD.</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アカウント詳細｜Abel Womack</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docs/40_Abel Womack.md:16–17（GitHub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63</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350 / ME3: 0 / ME5: 350</a:t>
            </a:r>
            <a:br/>
            <a:r>
              <a:t>Copilot 有償/無償/合計: 50 / 無償: 0 / 合計: 50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関心度：興味がある。価格が知りたいとの問い合わせあり。／時期：未定。 Level of Interest: Interested. They have inquired about pricing. / Timing: TBD.</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アカウント詳細｜NAL</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docs/41_NAL.md:16–17（GitHub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64</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1331 / ME3: 7 / ME5: 1324</a:t>
            </a:r>
            <a:br/>
            <a:r>
              <a:t>Copilot 有償/無償/合計: 100 / 無償: 0 / 合計: 100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関心度：興味がある。価格が知りたいとの問い合わせあり。／時期：未定。 Level of Interest: Interested. They have inquired about pricing. / Timing: TBD.</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アカウント詳細｜MACI</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docs/42_MACI.md:16–17（GitHub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65</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146 / ME3: 146 / ME5: 0</a:t>
            </a:r>
            <a:br/>
            <a:r>
              <a:t>Copilot 有償/無償/合計: 146 / 無償: 0 / 合計: 146</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関心度：興味がある。価格が知りたいとの問い合わせあり。／時期：未定。 Level of Interest: Interested. They have inquired about pricing. / Timing: TBD.</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アカウント詳細｜Cascade</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docs/43_Cascade.md:16–17（GitHub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66</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1400 / ME3: 0 / ME5: 1400</a:t>
            </a:r>
            <a:br/>
            <a:r>
              <a:t>Copilot 有償/無償/合計: 100 / 無償: 0 / 合計: 100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関心度：興味がある。価格が知りたいとの問い合わせあり。／時期：未定。 Level of Interest: Interested. They have inquired about pricing. / Timing: TBD.</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アカウント詳細｜Shiroki</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Americas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docs/44_Shiroki.md:16–17（GitHub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67</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200 / ME3: 0 / ME5: 200</a:t>
            </a:r>
            <a:br/>
            <a:r>
              <a:t>Copilot 有償/無償/合計: 14 / 無償: 0 / 合計: 14</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関心度：興味がある。価格が知りたいとの問い合わせあり。／時期：未定。 Level of Interest: Interested. They have inquired about pricing. / Timing: TBD.</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アカウント詳細｜TOYOTA MOTOR EUROPE</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EMEA  |  資料内日付: 2026/09  |  判断: 保留  |  根拠信頼度: 中</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docs/45_TOYOTA MOTOR EUROPE.md:12–15（GitHub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68</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13930 / ME3: - / ME5: 13930</a:t>
            </a:r>
            <a:br/>
            <a:r>
              <a:t>Copilot 有償/無償/合計: 2482 / 無償: 0 / 合計: 2482</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 ・価格を共有済み ・E7コミットメントのリスク：40万E7ライセンスという前提は、各地域の実需と乖離している可能性がある。E3またはE5継続を希望する関係者が殆どのため、現実的な需要確認が必要。 ・価格・割引条件のギャップ：提示されている割引率は現行条件より弱く、従来のボリュームディスカウントも反映されておらず、強く不満。</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投資保留/他AI・地域要件</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既存投資・利用低下の確認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利用/投資方針確認→再評価</a:t>
            </a:r>
            <a:br/>
            <a:r>
              <a:t>販売優先度は意思・障壁・根拠に基づく定性判断であり、売上額・確率・活動率を示すものではない。</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アカウント詳細｜VANDERLANDE</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EMEA  |  資料内日付: 2026/09  |  判断: 別製品優先  |  根拠信頼度: 中</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docs/46_VANDERLANDE.md:12–19（GitHub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69</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9400 / ME3: 9400 / ME5: -</a:t>
            </a:r>
            <a:br/>
            <a:r>
              <a:t>Copilot 有償/無償/合計: 1575 / 無償: 10500 / 合計: 12075</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 ・9月25日説明予定 E7： ・Copilot Studioの新しい料金体系（クレジット課金）が改善される、またはGA交渉の対象に含まれない限り、E7の採用は現実的ではないとの認識 ・顧客は次回更新時にE5への移行を検討中 Power BI to Fabric：</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価格/評価懸念、Copilot感度は限定的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E5移行要件の評価</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E5要件確認→既存権利確認→必要時のみ追加提案</a:t>
            </a:r>
            <a:br/>
            <a:r>
              <a:t>販売優先度は意思・障壁・根拠に基づく定性判断であり、売上額・確率・活動率を示すものではない。</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アカウント詳細｜TMHE</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EMEA  |  資料内日付: 2026/09  |  判断: 条件付き  |  根拠信頼度: 中</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docs/47_TMHE.md:12–19（GitHub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70</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13000 / ME3: 13000 / ME5: -</a:t>
            </a:r>
            <a:br/>
            <a:r>
              <a:t>Copilot 有償/無償/合計: 75 / 無償: 9000 / 合計: 9075</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 ・9月24日に説明予定 E7： ・E3継続希望。 Power BI to Fabric： ・移行については、CSAMの支援のもと、計画・推進済</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9,000無償は注文ではない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約300人展開の組織変革</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PoC対象→変革支援→継続利用→親会社方針と購入確認</a:t>
            </a:r>
            <a:br/>
            <a:r>
              <a:t>販売優先度は意思・障壁・根拠に基づく定性判断であり、売上額・確率・活動率を示すものではない。</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アカウント詳細｜CFAO</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EMEA  |  資料内日付: 2026/09  |  判断: 条件付き  |  根拠信頼度: 中</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docs/48_CFAO.md:12–19（GitHub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71</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0 / ME3: - / ME5: -</a:t>
            </a:r>
            <a:br/>
            <a:r>
              <a:t>Copilot 有償/無償/合計: - / 無償: 4200 / 合計: 4200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 会議設定打診中 E7： ・E3継続希望。 Copilot: ・組織内におけるCopilot活用促進を目的として、AI機能（Microsoft 365 CopilotおよびCopilot Studio）の利用拡大に向けたワークショップを実施中</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予算限定・全社計画なし</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既存外部支援と非重複の定着支援</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既存支援範囲確認→限定導入→成果確認→購入可否</a:t>
            </a:r>
            <a:br/>
            <a:r>
              <a:t>販売優先度は意思・障壁・根拠に基づく定性判断であり、売上額・確率・活動率を示すものではない。</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アカウント詳細｜TAL</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EMEA  |  資料内日付: 2026/07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docs/49_TAL.md:16–17（GitHub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72</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0 / ME3: - / ME5: -</a:t>
            </a:r>
            <a:br/>
            <a:r>
              <a:t>Copilot 有償/無償/合計: - / 無償: - / 合計: -</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・8月24日のVanderlandeとのMTGで確認予定 （TALはVanderlande、viastore、Bastianで構成） - To be confirmed during the meeting with Vanderlande on August 24. (TAL consists of Vanderlande, viastore, and Bastian.)</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アカウント詳細｜TFS EMEA</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EMEA  |  資料内日付: 2026/09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docs/50_TFS.md:12–17（GitHub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73</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 / ME3: - / ME5: -</a:t>
            </a:r>
            <a:br/>
            <a:r>
              <a:t>Copilot 有償/無償/合計: - / 無償: 1700 / 合計: 1700</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 ・9月21日に説明予定 E7： ・E7は、価格がE3と同等の水準まで引き下げられない限り、現実的な選択肢ではないとの認識 ・コスト意識が非常に高い：一部の関連会社ではE5へのアップグレードを検討する可能性があるが、今後もE3が主流のライセンスであり続ける見込み</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アカウント詳細｜TOYOTA MOTOR ASIA</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APAC  |  資料内日付: 2026/09  |  判断: 要確認  |  根拠信頼度: 低</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docs/51_TOYOTA MOTOR ASIA.md:15–18（GitHub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74</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6996 / ME3: 3786 / ME5: 3210</a:t>
            </a:r>
            <a:br/>
            <a:r>
              <a:t>Copilot 有償/無償/合計: 1261 / 無償: - / 合計: -</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【価格・契約条件】 ・長年GAに参画していることを踏まえ、現行より競争力のある価格を期待していた ・Microsoftが2027年4月までに対象ユーザー全体のE7化を期待する場合、現行E5と同等水準の価格が必要との認識。 ・GAの割引率について、他の大規模契約との比較も含め、より競争力のある条件を要望。</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資料の根拠が限定的</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購入意思・障害の確認</a:t>
            </a:r>
            <a:br/>
            <a:r>
              <a:t>根拠: 資料上は仮説。確認後に開始</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決裁者・予算・対象・成功基準を確認→必要時に限定支援</a:t>
            </a:r>
            <a:br/>
            <a:r>
              <a:t>販売優先度は意思・障壁・根拠に基づく定性判断であり、売上額・確率・活動率を示すものではない。</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256032"/>
            <a:ext cx="11521440" cy="56692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l">
              <a:defRPr sz="2500" b="1">
                <a:solidFill>
                  <a:srgbClr val="FFFFFF"/>
                </a:solidFill>
                <a:latin typeface="Noto Sans CJK JP"/>
              </a:defRPr>
            </a:pPr>
            <a:r>
              <a:t>アカウント詳細｜TMCA</a:t>
            </a:r>
          </a:p>
        </p:txBody>
      </p:sp>
      <p:sp>
        <p:nvSpPr>
          <p:cNvPr id="3" name="Rounded Rectangle 2"/>
          <p:cNvSpPr/>
          <p:nvPr/>
        </p:nvSpPr>
        <p:spPr>
          <a:xfrm>
            <a:off x="438912" y="877824"/>
            <a:ext cx="1097280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000" b="0">
                <a:solidFill>
                  <a:srgbClr val="5B6573"/>
                </a:solidFill>
                <a:latin typeface="Noto Sans CJK JP"/>
              </a:defRPr>
            </a:pPr>
            <a:r>
              <a:t>APAC  |  資料内日付: 2026/09  |  判断: 条件付き  |  根拠信頼度: 中</a:t>
            </a:r>
          </a:p>
        </p:txBody>
      </p:sp>
      <p:sp>
        <p:nvSpPr>
          <p:cNvPr id="4" name="Rounded Rectangle 3"/>
          <p:cNvSpPr/>
          <p:nvPr/>
        </p:nvSpPr>
        <p:spPr>
          <a:xfrm>
            <a:off x="320040" y="6519672"/>
            <a:ext cx="11521440" cy="182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t" lIns="0" rIns="0" tIns="0" bIns="0"/>
          <a:lstStyle/>
          <a:p>
            <a:pPr algn="l">
              <a:defRPr sz="700" b="0">
                <a:solidFill>
                  <a:srgbClr val="5B6573"/>
                </a:solidFill>
                <a:latin typeface="Noto Sans CJK JP"/>
              </a:defRPr>
            </a:pPr>
            <a:r>
              <a:t>docs/52_TMCA.md:14–19（GitHub commit は source_manifest.json を参照）  |  2026年9月16日  |  顧客内部情報を含む／取扱注意</a:t>
            </a:r>
          </a:p>
        </p:txBody>
      </p:sp>
      <p:sp>
        <p:nvSpPr>
          <p:cNvPr id="5" name="Rounded Rectangle 4"/>
          <p:cNvSpPr/>
          <p:nvPr/>
        </p:nvSpPr>
        <p:spPr>
          <a:xfrm>
            <a:off x="11658600" y="6464808"/>
            <a:ext cx="201168" cy="201168"/>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defRPr sz="700" b="1">
                <a:solidFill>
                  <a:srgbClr val="FFFFFF"/>
                </a:solidFill>
                <a:latin typeface="Noto Sans CJK JP"/>
              </a:defRPr>
            </a:pPr>
            <a:r>
              <a:t>75</a:t>
            </a:r>
          </a:p>
        </p:txBody>
      </p:sp>
      <p:sp>
        <p:nvSpPr>
          <p:cNvPr id="6" name="Rounded Rectangle 5"/>
          <p:cNvSpPr/>
          <p:nvPr/>
        </p:nvSpPr>
        <p:spPr>
          <a:xfrm>
            <a:off x="411480" y="1298448"/>
            <a:ext cx="3566160" cy="1234440"/>
          </a:xfrm>
          <a:prstGeom prst="roundRect">
            <a:avLst/>
          </a:prstGeom>
          <a:solidFill>
            <a:srgbClr val="F4F7FA"/>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1">
                <a:solidFill>
                  <a:srgbClr val="17365D"/>
                </a:solidFill>
                <a:latin typeface="Noto Sans CJK JP"/>
              </a:defRPr>
            </a:pPr>
            <a:r>
              <a:t>台帳値（活動実績ではない）</a:t>
            </a:r>
            <a:br/>
            <a:r>
              <a:t>総ユーザー: 2650 / ME3: - / ME5: 2650</a:t>
            </a:r>
            <a:br/>
            <a:r>
              <a:t>Copilot 有償/無償/合計: 170 / 無償: - / 合計: -</a:t>
            </a:r>
          </a:p>
        </p:txBody>
      </p:sp>
      <p:sp>
        <p:nvSpPr>
          <p:cNvPr id="7" name="Rounded Rectangle 6"/>
          <p:cNvSpPr/>
          <p:nvPr/>
        </p:nvSpPr>
        <p:spPr>
          <a:xfrm>
            <a:off x="4160520" y="1298448"/>
            <a:ext cx="7589520" cy="123444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資料の抜粋（事実/見解は原文）</a:t>
            </a:r>
            <a:br/>
            <a:r>
              <a:t>【価格・判断基準】 ・現行の提示価格は、直ちに購入判断できる水準ではない。 ・E7の導入可否は価格が最重要の判断基準。E5＋Copilotと同等またはそれ以下の価格であれば、E7を前向きに検討可能。 【E7導入可能性】 ・Agent 365は現時点では必要性を認識しておらず、E7の評価は主にE5＋Copilotとの価格比較に基づく。</a:t>
            </a:r>
          </a:p>
        </p:txBody>
      </p:sp>
      <p:sp>
        <p:nvSpPr>
          <p:cNvPr id="8" name="Rounded Rectangle 7"/>
          <p:cNvSpPr/>
          <p:nvPr/>
        </p:nvSpPr>
        <p:spPr>
          <a:xfrm>
            <a:off x="411480" y="2761488"/>
            <a:ext cx="5440680" cy="1234440"/>
          </a:xfrm>
          <a:prstGeom prst="roundRect">
            <a:avLst/>
          </a:prstGeom>
          <a:solidFill>
            <a:srgbClr val="FFF4CE"/>
          </a:solidFill>
          <a:ln>
            <a:solidFill>
              <a:srgbClr val="D83B01"/>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商用ゲート・障壁</a:t>
            </a:r>
            <a:br/>
            <a:r>
              <a:t>価格条件、Agent365必要性なし</a:t>
            </a:r>
            <a:br/>
            <a:r>
              <a:t>次の確認: 購入決裁者、予算時期、対象コホート、既存権利、成功基準</a:t>
            </a:r>
          </a:p>
        </p:txBody>
      </p:sp>
      <p:sp>
        <p:nvSpPr>
          <p:cNvPr id="9" name="Rounded Rectangle 8"/>
          <p:cNvSpPr/>
          <p:nvPr/>
        </p:nvSpPr>
        <p:spPr>
          <a:xfrm>
            <a:off x="6080760" y="2761488"/>
            <a:ext cx="5669280" cy="1234440"/>
          </a:xfrm>
          <a:prstGeom prst="roundRect">
            <a:avLst/>
          </a:prstGeom>
          <a:solidFill>
            <a:srgbClr val="E8F5F5"/>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100" b="0">
                <a:solidFill>
                  <a:srgbClr val="17365D"/>
                </a:solidFill>
                <a:latin typeface="Noto Sans CJK JP"/>
              </a:defRPr>
            </a:pPr>
            <a:r>
              <a:t>ISD適合（提案/推論）</a:t>
            </a:r>
            <a:br/>
            <a:r>
              <a:t>限定E7の商用条件確認</a:t>
            </a:r>
            <a:br/>
            <a:r>
              <a:t>根拠: 資料に支援ニーズの記載あり</a:t>
            </a:r>
          </a:p>
        </p:txBody>
      </p:sp>
      <p:sp>
        <p:nvSpPr>
          <p:cNvPr id="10" name="Rounded Rectangle 9"/>
          <p:cNvSpPr/>
          <p:nvPr/>
        </p:nvSpPr>
        <p:spPr>
          <a:xfrm>
            <a:off x="411480" y="4251960"/>
            <a:ext cx="11338560" cy="1234440"/>
          </a:xfrm>
          <a:prstGeom prst="roundRect">
            <a:avLst/>
          </a:prstGeom>
          <a:solidFill>
            <a:srgbClr val="EAF3F8"/>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t" lIns="109728" rIns="109728" tIns="109728" bIns="109728"/>
          <a:lstStyle/>
          <a:p>
            <a:pPr algn="l">
              <a:defRPr sz="1200" b="0">
                <a:solidFill>
                  <a:srgbClr val="17365D"/>
                </a:solidFill>
                <a:latin typeface="Noto Sans CJK JP"/>
              </a:defRPr>
            </a:pPr>
            <a:r>
              <a:t>支援 → 運用結果 → 購入/利用拡大（推薦）</a:t>
            </a:r>
            <a:br/>
            <a:r>
              <a:t>対象限定→商用条件→必要性確認→購入判断</a:t>
            </a:r>
            <a:br/>
            <a:r>
              <a:t>販売優先度は意思・障壁・根拠に基づく定性判断であり、売上額・確率・活動率を示すものではない。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